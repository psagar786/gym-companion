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cf2dd6033346bd" /><Relationship Type="http://schemas.openxmlformats.org/officeDocument/2006/relationships/extended-properties" Target="/docProps/app.xml" Id="R8b90b176b8884837" /><Relationship Type="http://schemas.openxmlformats.org/officeDocument/2006/relationships/officeDocument" Target="/ppt/presentation.xml" Id="R7516103a0620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cfa7df57be4361"/>
  </p:sldMasterIdLst>
  <p:notesMasterIdLst>
    <p:notesMasterId xmlns:r="http://schemas.openxmlformats.org/officeDocument/2006/relationships" r:id="Rb585a103ee87406f"/>
  </p:notesMasterIdLst>
  <p:sldIdLst>
    <p:sldId xmlns:r="http://schemas.openxmlformats.org/officeDocument/2006/relationships" id="256" r:id="R07121cfa0c9b4e29"/>
    <p:sldId xmlns:r="http://schemas.openxmlformats.org/officeDocument/2006/relationships" id="257" r:id="Rea600dd911584f69"/>
    <p:sldId xmlns:r="http://schemas.openxmlformats.org/officeDocument/2006/relationships" id="258" r:id="Reb479ca05e454588"/>
    <p:sldId xmlns:r="http://schemas.openxmlformats.org/officeDocument/2006/relationships" id="259" r:id="Rd3c65684ef1e4447"/>
    <p:sldId xmlns:r="http://schemas.openxmlformats.org/officeDocument/2006/relationships" id="260" r:id="R4304595c3aad4b44"/>
    <p:sldId xmlns:r="http://schemas.openxmlformats.org/officeDocument/2006/relationships" id="261" r:id="R5e656fd2206e4e37"/>
    <p:sldId xmlns:r="http://schemas.openxmlformats.org/officeDocument/2006/relationships" id="262" r:id="Rb126464cf9f94993"/>
    <p:sldId xmlns:r="http://schemas.openxmlformats.org/officeDocument/2006/relationships" id="263" r:id="R9422380726cc48ff"/>
    <p:sldId xmlns:r="http://schemas.openxmlformats.org/officeDocument/2006/relationships" id="264" r:id="R76654971ccd14b8c"/>
    <p:sldId xmlns:r="http://schemas.openxmlformats.org/officeDocument/2006/relationships" id="265" r:id="R1ac6fc3e5e5c4010"/>
    <p:sldId xmlns:r="http://schemas.openxmlformats.org/officeDocument/2006/relationships" id="266" r:id="Rd7dae7baaaf0498d"/>
    <p:sldId xmlns:r="http://schemas.openxmlformats.org/officeDocument/2006/relationships" id="267" r:id="Rbaaf9cab5a1e4e83"/>
    <p:sldId xmlns:r="http://schemas.openxmlformats.org/officeDocument/2006/relationships" id="268" r:id="Rf6651d0c0a124eb0"/>
    <p:sldId xmlns:r="http://schemas.openxmlformats.org/officeDocument/2006/relationships" id="269" r:id="Rbd58621724c64b72"/>
    <p:sldId xmlns:r="http://schemas.openxmlformats.org/officeDocument/2006/relationships" id="270" r:id="R5e5d33b01e3942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b2c3609104955" /><Relationship Type="http://schemas.openxmlformats.org/officeDocument/2006/relationships/slideMaster" Target="/ppt/slideMasters/slideMaster1.xml" Id="Ra0cfa7df57be4361" /><Relationship Type="http://schemas.openxmlformats.org/officeDocument/2006/relationships/notesMaster" Target="/ppt/notesMasters/notesMaster1.xml" Id="Rb585a103ee87406f" /><Relationship Type="http://schemas.openxmlformats.org/officeDocument/2006/relationships/presProps" Target="/ppt/presProps.xml" Id="Rd95e1233db3d4dd6" /><Relationship Type="http://schemas.openxmlformats.org/officeDocument/2006/relationships/tableStyles" Target="/ppt/tableStyles.xml" Id="Rc420733599984944" /><Relationship Type="http://schemas.openxmlformats.org/officeDocument/2006/relationships/slide" Target="/ppt/slides/slide1.xml" Id="R07121cfa0c9b4e29" /><Relationship Type="http://schemas.openxmlformats.org/officeDocument/2006/relationships/slide" Target="/ppt/slides/slide2.xml" Id="Rea600dd911584f69" /><Relationship Type="http://schemas.openxmlformats.org/officeDocument/2006/relationships/slide" Target="/ppt/slides/slide3.xml" Id="Reb479ca05e454588" /><Relationship Type="http://schemas.openxmlformats.org/officeDocument/2006/relationships/slide" Target="/ppt/slides/slide4.xml" Id="Rd3c65684ef1e4447" /><Relationship Type="http://schemas.openxmlformats.org/officeDocument/2006/relationships/slide" Target="/ppt/slides/slide5.xml" Id="R4304595c3aad4b44" /><Relationship Type="http://schemas.openxmlformats.org/officeDocument/2006/relationships/slide" Target="/ppt/slides/slide6.xml" Id="R5e656fd2206e4e37" /><Relationship Type="http://schemas.openxmlformats.org/officeDocument/2006/relationships/slide" Target="/ppt/slides/slide7.xml" Id="Rb126464cf9f94993" /><Relationship Type="http://schemas.openxmlformats.org/officeDocument/2006/relationships/slide" Target="/ppt/slides/slide8.xml" Id="R9422380726cc48ff" /><Relationship Type="http://schemas.openxmlformats.org/officeDocument/2006/relationships/slide" Target="/ppt/slides/slide9.xml" Id="R76654971ccd14b8c" /><Relationship Type="http://schemas.openxmlformats.org/officeDocument/2006/relationships/slide" Target="/ppt/slides/slide10.xml" Id="R1ac6fc3e5e5c4010" /><Relationship Type="http://schemas.openxmlformats.org/officeDocument/2006/relationships/slide" Target="/ppt/slides/slide11.xml" Id="Rd7dae7baaaf0498d" /><Relationship Type="http://schemas.openxmlformats.org/officeDocument/2006/relationships/slide" Target="/ppt/slides/slide12.xml" Id="Rbaaf9cab5a1e4e83" /><Relationship Type="http://schemas.openxmlformats.org/officeDocument/2006/relationships/slide" Target="/ppt/slides/slide13.xml" Id="Rf6651d0c0a124eb0" /><Relationship Type="http://schemas.openxmlformats.org/officeDocument/2006/relationships/slide" Target="/ppt/slides/slide14.xml" Id="Rbd58621724c64b72" /><Relationship Type="http://schemas.openxmlformats.org/officeDocument/2006/relationships/slide" Target="/ppt/slides/slide15.xml" Id="R5e5d33b01e3942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9cf34afdb45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304814c63c40d1" /><Relationship Type="http://schemas.openxmlformats.org/officeDocument/2006/relationships/notesMaster" Target="/ppt/notesMasters/notesMaster1.xml" Id="R51793bcf2d24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32a19c3fea4805" /><Relationship Type="http://schemas.openxmlformats.org/officeDocument/2006/relationships/notesMaster" Target="/ppt/notesMasters/notesMaster1.xml" Id="R6c514c6894b0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49c264313a417b" /><Relationship Type="http://schemas.openxmlformats.org/officeDocument/2006/relationships/notesMaster" Target="/ppt/notesMasters/notesMaster1.xml" Id="Rcc8405c53076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1b59fa786a451f" /><Relationship Type="http://schemas.openxmlformats.org/officeDocument/2006/relationships/notesMaster" Target="/ppt/notesMasters/notesMaster1.xml" Id="R16530bd54309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545234d24d49cf" /><Relationship Type="http://schemas.openxmlformats.org/officeDocument/2006/relationships/notesMaster" Target="/ppt/notesMasters/notesMaster1.xml" Id="R38177c053219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9fa6c43a4f44dc" /><Relationship Type="http://schemas.openxmlformats.org/officeDocument/2006/relationships/notesMaster" Target="/ppt/notesMasters/notesMaster1.xml" Id="Rbb501530c2574e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ae301059f84766" /><Relationship Type="http://schemas.openxmlformats.org/officeDocument/2006/relationships/notesMaster" Target="/ppt/notesMasters/notesMaster1.xml" Id="R1303aedac1b74e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96d4589804978" /><Relationship Type="http://schemas.openxmlformats.org/officeDocument/2006/relationships/notesMaster" Target="/ppt/notesMasters/notesMaster1.xml" Id="R5b69136ad3a64a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510fcfb7aa4f5a" /><Relationship Type="http://schemas.openxmlformats.org/officeDocument/2006/relationships/notesMaster" Target="/ppt/notesMasters/notesMaster1.xml" Id="Rf78686cc5e2441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2ed49332f3486d" /><Relationship Type="http://schemas.openxmlformats.org/officeDocument/2006/relationships/notesMaster" Target="/ppt/notesMasters/notesMaster1.xml" Id="Rfe486d6f795541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1dd2f7fc064b31" /><Relationship Type="http://schemas.openxmlformats.org/officeDocument/2006/relationships/notesMaster" Target="/ppt/notesMasters/notesMaster1.xml" Id="R6cbbb6db145845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d6d08f45234726" /><Relationship Type="http://schemas.openxmlformats.org/officeDocument/2006/relationships/notesMaster" Target="/ppt/notesMasters/notesMaster1.xml" Id="Reab04eafd27c4c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de099e6ae146c1" /><Relationship Type="http://schemas.openxmlformats.org/officeDocument/2006/relationships/notesMaster" Target="/ppt/notesMasters/notesMaster1.xml" Id="Re9b4d7375b0549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5746b3feeb471c" /><Relationship Type="http://schemas.openxmlformats.org/officeDocument/2006/relationships/notesMaster" Target="/ppt/notesMasters/notesMaster1.xml" Id="Ref07fe5fd20144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1f2fd4a8cc44f3" /><Relationship Type="http://schemas.openxmlformats.org/officeDocument/2006/relationships/notesMaster" Target="/ppt/notesMasters/notesMaster1.xml" Id="R7d3828f8cf44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PRD, 11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member problem and trainer/operations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operating context and business case. ₹60K is approved planning basis for annual cost avoidance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current product requirements, V4 showcase functionality. Images are approved internal Fitness 7 exercise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product principles and daily workout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personas, jobs to be done, and product principles.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V1–V4 version history; Product Review and System Blueprint — capability status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exercise detail, alternatives, V3/V4 foundations.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pilot plan, success criteria, and release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Commercial model is a Fitness 7 planning hypothesis; no pricing or revenue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product scope — staged rollout approach. No TAM or revenue claim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V5–V7 Product Scope. Status labels distinguish validating work from planned releases.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Product Review and System Blueprint — current technical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internal PRD — pilot gates and pilot operating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Fitness 7 deployment directory, PRD appendix. V4 showcase URL: https://gym-companion-member-v4.vercel.app/.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7733c04064e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3c9811f7984143" /><Relationship Type="http://schemas.openxmlformats.org/officeDocument/2006/relationships/slideLayout" Target="/ppt/slideLayouts/slideLayout1.xml" Id="Reafbf2cd3cce49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bf2cd3cce49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10b8eb0a14943" /><Relationship Type="http://schemas.openxmlformats.org/officeDocument/2006/relationships/notesSlide" Target="/ppt/notesSlides/notesSlide1.xml" Id="Rb895b0ff1fdb48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a3092ccfa4a2b" /><Relationship Type="http://schemas.openxmlformats.org/officeDocument/2006/relationships/notesSlide" Target="/ppt/notesSlides/notesSlide2.xml" Id="Rdf58d5a0809649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6fb064a3246ac" /><Relationship Type="http://schemas.openxmlformats.org/officeDocument/2006/relationships/notesSlide" Target="/ppt/notesSlides/notesSlide3.xml" Id="R093878109afa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73542892347b7" /><Relationship Type="http://schemas.openxmlformats.org/officeDocument/2006/relationships/image" Target="/ppt/media/image.png" Id="R22b79a2b7ab24455" /><Relationship Type="http://schemas.openxmlformats.org/officeDocument/2006/relationships/image" Target="/ppt/media/image2.png" Id="R24c10844fb914732" /><Relationship Type="http://schemas.openxmlformats.org/officeDocument/2006/relationships/image" Target="/ppt/media/image3.png" Id="Rceedfbf567cc42b7" /><Relationship Type="http://schemas.openxmlformats.org/officeDocument/2006/relationships/notesSlide" Target="/ppt/notesSlides/notesSlide4.xml" Id="R1eb64a5ee4d5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3a04e11364a42" /><Relationship Type="http://schemas.openxmlformats.org/officeDocument/2006/relationships/notesSlide" Target="/ppt/notesSlides/notesSlide5.xml" Id="R8cb2e21309dc4a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3b7c515e24630" /><Relationship Type="http://schemas.openxmlformats.org/officeDocument/2006/relationships/notesSlide" Target="/ppt/notesSlides/notesSlide6.xml" Id="R70b66e354c5e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a5b43c02c4c34" /><Relationship Type="http://schemas.openxmlformats.org/officeDocument/2006/relationships/notesSlide" Target="/ppt/notesSlides/notesSlide7.xml" Id="R2866f16f629f47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dc764c30142d5" /><Relationship Type="http://schemas.openxmlformats.org/officeDocument/2006/relationships/notesSlide" Target="/ppt/notesSlides/notesSlide8.xml" Id="R85618b8db7264c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78a6475ec4e2e" /><Relationship Type="http://schemas.openxmlformats.org/officeDocument/2006/relationships/notesSlide" Target="/ppt/notesSlides/notesSlide9.xml" Id="Rf182f30016e8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3d2b1e714f6b" /><Relationship Type="http://schemas.openxmlformats.org/officeDocument/2006/relationships/notesSlide" Target="/ppt/notesSlides/notesSlide10.xml" Id="R0fb312495c4247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ceb02d6684585" /><Relationship Type="http://schemas.openxmlformats.org/officeDocument/2006/relationships/notesSlide" Target="/ppt/notesSlides/notesSlide11.xml" Id="R32ca1c6120b24a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f848849ce4193" /><Relationship Type="http://schemas.openxmlformats.org/officeDocument/2006/relationships/notesSlide" Target="/ppt/notesSlides/notesSlide12.xml" Id="Rfb02dfea18b647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0dbb0f93e488c" /><Relationship Type="http://schemas.openxmlformats.org/officeDocument/2006/relationships/notesSlide" Target="/ppt/notesSlides/notesSlide13.xml" Id="Rfcd7c5bdf29d4b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11dc6f86c4249" /><Relationship Type="http://schemas.openxmlformats.org/officeDocument/2006/relationships/notesSlide" Target="/ppt/notesSlides/notesSlide14.xml" Id="R19729e00714447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185f8d7674e25" /><Relationship Type="http://schemas.openxmlformats.org/officeDocument/2006/relationships/notesSlide" Target="/ppt/notesSlides/notesSlide15.xml" Id="R8f4134114cb4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7FE25-4A34-4382-BA08-23BCFFB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66700">
            <a:solidFill>
              <a:srgbClr val="F451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9F858-7562-427A-88EA-6917B39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FFFFFF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1949D0-B815-4421-8F64-D256675B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3EB"/>
                </a:solidFill>
              </a:defRPr>
            </a:pPr>
            <a:r>
              <a:rPr sz="2175" b="1">
                <a:solidFill>
                  <a:srgbClr val="F7F3EB"/>
                </a:solidFill>
              </a:rPr>
              <a:t>Fitness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FAD409-EB1D-45E8-9D51-4FF6FDA6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9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45112"/>
                </a:solidFill>
              </a:defRPr>
            </a:pPr>
            <a:r>
              <a:rPr sz="2325" b="1">
                <a:solidFill>
                  <a:srgbClr val="F45112"/>
                </a:solidFill>
              </a:rPr>
              <a:t>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3B6821-7DD1-45F7-A0E8-55AC011C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B5A"/>
                </a:solidFill>
              </a:defRPr>
            </a:pPr>
            <a:r>
              <a:rPr sz="900" b="1">
                <a:solidFill>
                  <a:srgbClr val="FF8B5A"/>
                </a:solidFill>
              </a:rPr>
              <a:t>PILOT PARTNERSHIP PROPOSAL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9D8512-A7B2-4272-B85A-A5A529B0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F7F3EB"/>
                </a:solidFill>
              </a:defRPr>
            </a:pPr>
            <a:r>
              <a:rPr sz="4500" b="0">
                <a:solidFill>
                  <a:srgbClr val="F7F3EB"/>
                </a:solidFill>
              </a:rPr>
              <a:t>A visual coach</a:t>
            </a:r>
          </a:p>
          <a:p xmlns:a="http://schemas.openxmlformats.org/drawingml/2006/main">
            <a:pPr>
              <a:defRPr sz="4500" b="0">
                <a:solidFill>
                  <a:srgbClr val="F7F3EB"/>
                </a:solidFill>
              </a:defRPr>
            </a:pPr>
            <a:r>
              <a:rPr sz="4500" b="0">
                <a:solidFill>
                  <a:srgbClr val="F7F3EB"/>
                </a:solidFill>
              </a:rPr>
              <a:t>for every member.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FB443A-0A0D-4698-817D-AF0F9526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7D0C6"/>
                </a:solidFill>
              </a:defRPr>
            </a:pPr>
            <a:r>
              <a:rPr sz="1575" b="0">
                <a:solidFill>
                  <a:srgbClr val="D7D0C6"/>
                </a:solidFill>
              </a:rPr>
              <a:t>A mobile-first workout companion designed to help Fitness 7 members start the right workout with confidence.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454E1F-42DA-4AF0-9012-BFC1313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3EB"/>
                </a:solidFill>
              </a:defRPr>
            </a:pPr>
            <a:r>
              <a:rPr sz="1200" b="1">
                <a:solidFill>
                  <a:srgbClr val="F7F3EB"/>
                </a:solidFill>
              </a:rPr>
              <a:t>Sagar Paperwala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CD19A1-170B-43EF-A95D-6CFE45F1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3BBB0"/>
                </a:solidFill>
              </a:defRPr>
            </a:pPr>
            <a:r>
              <a:rPr sz="975" b="0">
                <a:solidFill>
                  <a:srgbClr val="C3BBB0"/>
                </a:solidFill>
              </a:rPr>
              <a:t>Founder &amp; Product Lead  ·  Fitness 7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8D7376-4231-45A7-999E-2508E76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2293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8B5A"/>
                </a:solidFill>
              </a:defRPr>
            </a:pPr>
            <a:r>
              <a:rPr sz="825" b="1">
                <a:solidFill>
                  <a:srgbClr val="FF8B5A"/>
                </a:solidFill>
              </a:rPr>
              <a:t>50-member pilot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1519502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EB1E702-2446-469E-90F8-12758377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THE PROBLEM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714F85-684C-447F-8791-EA43A934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Gym-floor uncertainty kills momentum.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EE4AB6A-BD28-4C5F-B3C5-84CDF54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665F"/>
                </a:solidFill>
              </a:defRPr>
            </a:pPr>
            <a:r>
              <a:rPr sz="1425" b="0">
                <a:solidFill>
                  <a:srgbClr val="6B665F"/>
                </a:solidFill>
              </a:rPr>
              <a:t>When the app is unavailable, members lose the simplest thing they need: a clear next exercise.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3CCA8-9D34-4CC6-A972-E140F3B1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AD8CCA-C57E-47B5-9D13-8E123B0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A381AA-4B5E-4203-A344-D196ACBB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11D7C-FC8B-4861-B701-3D8DC3EC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9DF2B5-A8F4-4642-8733-5B88AEE0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5112"/>
                </a:solidFill>
              </a:defRPr>
            </a:pPr>
            <a:r>
              <a:rPr sz="2025" b="1">
                <a:solidFill>
                  <a:srgbClr val="F45112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E4C559-1363-4918-99AE-14A889F9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App unavailable or incomplete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A00F33-3FD7-415F-ABBD-A964092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5112"/>
                </a:solidFill>
              </a:defRPr>
            </a:pPr>
            <a:r>
              <a:rPr sz="1800" b="0">
                <a:solidFill>
                  <a:srgbClr val="F4511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7AE9D-FBB6-4342-ADCE-8B02CB0B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C87591-65D8-4C7B-962E-9080EBA7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5112"/>
                </a:solidFill>
              </a:defRPr>
            </a:pPr>
            <a:r>
              <a:rPr sz="2025" b="1">
                <a:solidFill>
                  <a:srgbClr val="F45112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A1CC75-2F0A-4370-8003-035C86A7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Search YouTube / ask ChatGPT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933F7C6-C1D1-4A89-AC21-A2EC2BB1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81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5112"/>
                </a:solidFill>
              </a:defRPr>
            </a:pPr>
            <a:r>
              <a:rPr sz="1800" b="0">
                <a:solidFill>
                  <a:srgbClr val="F4511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0A033-7A21-4695-A9D0-257FCF42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EBAEA7B-E154-4EC9-BA6F-080C6BF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5112"/>
                </a:solidFill>
              </a:defRPr>
            </a:pPr>
            <a:r>
              <a:rPr sz="2025" b="1">
                <a:solidFill>
                  <a:srgbClr val="F45112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774568-9C83-47E6-8272-B282CD97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Wait for a trainer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8A446C-CFDE-42D5-B8BA-FEFC30DF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1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5112"/>
                </a:solidFill>
              </a:defRPr>
            </a:pPr>
            <a:r>
              <a:rPr sz="1800" b="0">
                <a:solidFill>
                  <a:srgbClr val="F4511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46559-AB05-46B1-9508-30AFBFDA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CEBE5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D527A2-4ED5-47E6-A568-A4BCFA3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33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6D61"/>
                </a:solidFill>
              </a:defRPr>
            </a:pPr>
            <a:r>
              <a:rPr sz="2025" b="1">
                <a:solidFill>
                  <a:srgbClr val="D96D61"/>
                </a:solidFill>
              </a:rPr>
              <a:t>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7F105F7-9DD7-4F8E-9B39-1AF6B03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Skip, improvise, or lose confidence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2B5E66C-1EC2-405E-AAF3-47EE862E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91C"/>
                </a:solidFill>
              </a:defRPr>
            </a:pPr>
            <a:r>
              <a:rPr sz="1650" b="0">
                <a:solidFill>
                  <a:srgbClr val="17191C"/>
                </a:solidFill>
              </a:rPr>
              <a:t>The opportunity is not another generic workout list. It is dependable, visual guidance at the exact moment a member needs it.</a:t>
            </a:r>
          </a:p>
        </p:txBody>
      </p:sp>
    </p:spTree>
    <p:extLst>
      <p:ext uri="{BB962C8B-B14F-4D97-AF65-F5344CB8AC3E}">
        <p14:creationId xmlns:p14="http://schemas.microsoft.com/office/powerpoint/2010/main" val="753740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D358AB-9676-4739-A5FE-4262164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WHY NOW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C65037-DB68-4A69-9FF3-0EFB634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A local operating problem creates a clear first wedge.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E605F2F-1128-4CDB-838E-4AB12959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665F"/>
                </a:solidFill>
              </a:defRPr>
            </a:pPr>
            <a:r>
              <a:rPr sz="1425" b="0">
                <a:solidFill>
                  <a:srgbClr val="6B665F"/>
                </a:solidFill>
              </a:rPr>
              <a:t>The numbers establish a controlled pilot opportunity — not a claim of market size or revenue.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A2526-77E4-458E-956C-0EBA4565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3CD9E1-1B65-4E2E-B89C-A8670CF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62BAF9-FF8A-470C-AE5B-45B4C59F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45388-DE8E-49FF-896A-D4573B1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732AF1-5EDE-402A-B8BF-2234BC48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5112"/>
                </a:solidFill>
              </a:defRPr>
            </a:pPr>
            <a:r>
              <a:rPr sz="2400" b="1">
                <a:solidFill>
                  <a:srgbClr val="F45112"/>
                </a:solidFill>
              </a:rPr>
              <a:t>1,000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72C164-0F50-4878-98DD-BFB4727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active members across the Fitness 7 member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398F1-FE98-49BA-82B3-43342995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B64958-0571-4D68-B241-B3554DFA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813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5112"/>
                </a:solidFill>
              </a:defRPr>
            </a:pPr>
            <a:r>
              <a:rPr sz="2400" b="1">
                <a:solidFill>
                  <a:srgbClr val="F45112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2013DF-CF28-44BC-85ED-2B09EC0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861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locations included in the current operating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4714B-67C6-4121-BA48-18A5CE2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08ACED-CA7B-4939-B590-A7309333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5112"/>
                </a:solidFill>
              </a:defRPr>
            </a:pPr>
            <a:r>
              <a:rPr sz="2400" b="1">
                <a:solidFill>
                  <a:srgbClr val="F45112"/>
                </a:solidFill>
              </a:rPr>
              <a:t>₹60K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D79D04-774F-4B32-B00A-2E9E9FCA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861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annual maintenance cost avoidance 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AD5D7-74D5-4523-97CC-E6314BF7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4BE3E7-72AA-476F-9EF5-873F7D3B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Investment thesis: use the Fitness 7 pilot to prove adoption, member confidence, trainer efficiency, and a repeatable operating model before wider scale.</a:t>
            </a:r>
          </a:p>
        </p:txBody>
      </p:sp>
    </p:spTree>
    <p:extLst>
      <p:ext uri="{BB962C8B-B14F-4D97-AF65-F5344CB8AC3E}">
        <p14:creationId xmlns:p14="http://schemas.microsoft.com/office/powerpoint/2010/main" val="74456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DC7E11-B1A5-4E7E-A096-B6643C1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THE PRODUCT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2C3B803-AB4D-4264-AD51-EECBF65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A personal workout companion built for the gym floor.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86C9DF-FD61-4CCD-96B4-E03C49AA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665F"/>
                </a:solidFill>
              </a:defRPr>
            </a:pPr>
            <a:r>
              <a:rPr sz="1425" b="0">
                <a:solidFill>
                  <a:srgbClr val="6B665F"/>
                </a:solidFill>
              </a:rPr>
              <a:t>One phone screen gives members the routine, visual explanation, alternative, recovery guidance, and a way to complete the session.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6988B-CEDD-4B59-B30B-03878247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67DE3E-D527-4EF4-BE26-458C90F5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3753C2-4D81-45A5-9CF0-4EF682A7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6FC5C-C0A3-45EE-8F9B-B0F233E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957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F288DB-8BAA-45B1-BB07-8BEEDC5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What members see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0F03CF-E6F1-4E72-8366-007E03D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91C"/>
                </a:solidFill>
              </a:defRPr>
            </a:pPr>
            <a:r>
              <a:rPr sz="1275" b="0">
                <a:solidFill>
                  <a:srgbClr val="17191C"/>
                </a:solidFill>
              </a:rPr>
              <a:t>•  Today's workout in sequence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D84F3D-3C3D-4BC8-85B0-6713F00B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91C"/>
                </a:solidFill>
              </a:defRPr>
            </a:pPr>
            <a:r>
              <a:rPr sz="1275" b="0">
                <a:solidFill>
                  <a:srgbClr val="17191C"/>
                </a:solidFill>
              </a:rPr>
              <a:t>•  One selected primary or alternative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E9B972-EBE8-4E92-93C7-DCCBBEF3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91C"/>
                </a:solidFill>
              </a:defRPr>
            </a:pPr>
            <a:r>
              <a:rPr sz="1275" b="0">
                <a:solidFill>
                  <a:srgbClr val="17191C"/>
                </a:solidFill>
              </a:rPr>
              <a:t>•  Three-phase form explanation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168CDA-AA85-40BA-93C1-3603A7C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91C"/>
                </a:solidFill>
              </a:defRPr>
            </a:pPr>
            <a:r>
              <a:rPr sz="1275" b="0">
                <a:solidFill>
                  <a:srgbClr val="17191C"/>
                </a:solidFill>
              </a:rPr>
              <a:t>•  Warm-up and recovery guidance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B38A62-027A-4661-9605-F0B2E7FF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91C"/>
                </a:solidFill>
              </a:defRPr>
            </a:pPr>
            <a:r>
              <a:rPr sz="1275" b="0">
                <a:solidFill>
                  <a:srgbClr val="17191C"/>
                </a:solidFill>
              </a:rPr>
              <a:t>•  Completion and progress cues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79a2b7ab24455"/>
          <a:stretch xmlns:a="http://schemas.openxmlformats.org/drawingml/2006/main"/>
        </p:blipFill>
        <p:spPr>
          <a:xfrm xmlns:a="http://schemas.openxmlformats.org/drawingml/2006/main">
            <a:off x="5334000" y="2324100"/>
            <a:ext cx="1857375" cy="1857375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10844fb914732"/>
          <a:stretch xmlns:a="http://schemas.openxmlformats.org/drawingml/2006/main"/>
        </p:blipFill>
        <p:spPr>
          <a:xfrm xmlns:a="http://schemas.openxmlformats.org/drawingml/2006/main">
            <a:off x="7477125" y="2324100"/>
            <a:ext cx="1857375" cy="1857375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dfbf567cc42b7"/>
          <a:stretch xmlns:a="http://schemas.openxmlformats.org/drawingml/2006/main"/>
        </p:blipFill>
        <p:spPr>
          <a:xfrm xmlns:a="http://schemas.openxmlformats.org/drawingml/2006/main">
            <a:off x="9620250" y="2324100"/>
            <a:ext cx="1857375" cy="1857375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B553162-9077-40DC-BFB3-5EFB0352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5112"/>
                </a:solidFill>
              </a:defRPr>
            </a:pPr>
            <a:r>
              <a:rPr sz="1800" b="1">
                <a:solidFill>
                  <a:srgbClr val="F45112"/>
                </a:solidFill>
              </a:rPr>
              <a:t>Visual-first content replaces uncertainty without replacing trainer judgement.</a:t>
            </a:r>
          </a:p>
        </p:txBody>
      </p:sp>
    </p:spTree>
    <p:extLst>
      <p:ext uri="{BB962C8B-B14F-4D97-AF65-F5344CB8AC3E}">
        <p14:creationId xmlns:p14="http://schemas.microsoft.com/office/powerpoint/2010/main" val="990709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C47483F-D003-4CB7-9DA1-AD7284C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MEMBER JOURNEY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6306667-6BA8-4C99-96EB-53D535CA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From “What should I do?” to “I know what to do next.”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2DBD7-A9AB-4CFC-952C-D81D78E1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67E52-5C64-4C39-A1D3-FAFB319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F03CA2-3947-4011-B375-74FE5DD1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93406-D724-43CD-AD35-17D5062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CBB321-602F-4B63-B6E1-7AA7C00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527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</a:defRPr>
            </a:pPr>
            <a:r>
              <a:rPr sz="2025" b="1">
                <a:solidFill>
                  <a:srgbClr val="FFFDF9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30C955-4392-4C4B-9D6C-56CEE1F7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OPEN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5B138E-0835-4AC0-809C-44849F5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Today’s training is clear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2D3ED5-6341-4641-9C37-5A52EAF5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384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665F"/>
                </a:solidFill>
              </a:defRPr>
            </a:pPr>
            <a:r>
              <a:rPr sz="195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387C-0CDD-4CF4-9F51-688B6A4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61"/>
          </a:solidFill>
          <a:ln xmlns:a="http://schemas.openxmlformats.org/drawingml/2006/main" w="0">
            <a:solidFill>
              <a:srgbClr val="D96D6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262F9A-EB6F-409E-BC38-D86F0D06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527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</a:defRPr>
            </a:pPr>
            <a:r>
              <a:rPr sz="2025" b="1">
                <a:solidFill>
                  <a:srgbClr val="FFFDF9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F23C56-1BA0-45D3-8B0A-0C7A37D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6671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D61"/>
                </a:solidFill>
              </a:defRPr>
            </a:pPr>
            <a:r>
              <a:rPr sz="900" b="1">
                <a:solidFill>
                  <a:srgbClr val="D96D61"/>
                </a:solidFill>
              </a:rPr>
              <a:t>UNDERSTAND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92E54C0-B5E3-497C-AD8C-8928A0B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00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See setup, move, return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11E52E9-988B-432D-AC20-54D5F49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384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665F"/>
                </a:solidFill>
              </a:defRPr>
            </a:pPr>
            <a:r>
              <a:rPr sz="195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15748-C80E-40E9-A25B-5BE3A74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FC8"/>
          </a:solidFill>
          <a:ln xmlns:a="http://schemas.openxmlformats.org/drawingml/2006/main" w="0">
            <a:solidFill>
              <a:srgbClr val="5E8FC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111B5E-9215-473A-BD3C-4B5CCDD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527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</a:defRPr>
            </a:pPr>
            <a:r>
              <a:rPr sz="2025" b="1">
                <a:solidFill>
                  <a:srgbClr val="FFFDF9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DE86A57-A7AC-49D6-84DD-8148B9BF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8FC8"/>
                </a:solidFill>
              </a:defRPr>
            </a:pPr>
            <a:r>
              <a:rPr sz="900" b="1">
                <a:solidFill>
                  <a:srgbClr val="5E8FC8"/>
                </a:solidFill>
              </a:rPr>
              <a:t>ADAPT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B9852A7-FFF8-41DC-AEA3-757068F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Choose a relevant alternative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500C9D9-53BF-4042-AC40-B2936A98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384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665F"/>
                </a:solidFill>
              </a:defRPr>
            </a:pPr>
            <a:r>
              <a:rPr sz="195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42225-E9D7-496B-8FBC-33FDAF7B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56A"/>
          </a:solidFill>
          <a:ln xmlns:a="http://schemas.openxmlformats.org/drawingml/2006/main" w="0">
            <a:solidFill>
              <a:srgbClr val="5D856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78B4D1-B253-407F-B535-0E529FA6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527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DF9"/>
                </a:solidFill>
              </a:defRPr>
            </a:pPr>
            <a:r>
              <a:rPr sz="2025" b="1">
                <a:solidFill>
                  <a:srgbClr val="FFFDF9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03C6418-4AD1-457F-BFA0-FB5920D8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671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856A"/>
                </a:solidFill>
              </a:defRPr>
            </a:pPr>
            <a:r>
              <a:rPr sz="900" b="1">
                <a:solidFill>
                  <a:srgbClr val="5D856A"/>
                </a:solidFill>
              </a:rPr>
              <a:t>COMPLETE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C41EB16-11A4-4638-BFC9-2989126E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000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Track workout and 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36100-525C-4F1A-AD9B-86B2E7D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76825"/>
            <a:ext cx="922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0225E9D-75BE-4CA8-BA09-A96EA8A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The product is designed so a member can reach the first exercise in two meaningful taps.</a:t>
            </a:r>
          </a:p>
        </p:txBody>
      </p:sp>
    </p:spTree>
    <p:extLst>
      <p:ext uri="{BB962C8B-B14F-4D97-AF65-F5344CB8AC3E}">
        <p14:creationId xmlns:p14="http://schemas.microsoft.com/office/powerpoint/2010/main" val="601510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AE5C61E-D3A5-47CA-BA47-DE81FA3F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TWO-SIDED VALUE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F4C05A7-EDA4-47C3-8C03-2981B6F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A better member experience also makes trainer operations easier.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B2018-A855-40AA-B545-3356EECE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40896C0-9286-4B45-9880-442EB64B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DBC0EA-7AA4-4732-AEC3-44F8C08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BFA50-09E9-4925-BDE0-7B259FA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010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4841A6-949A-4BA5-89F9-9EC88B8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5112"/>
                </a:solidFill>
              </a:defRPr>
            </a:pPr>
            <a:r>
              <a:rPr sz="2025" b="1">
                <a:solidFill>
                  <a:srgbClr val="F45112"/>
                </a:solidFill>
              </a:rPr>
              <a:t>For members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2DCB69-270A-41B9-830B-06E73667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Start with confidence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DD7992-2393-4E2F-967A-D04B0B1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Understand names visually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C87B86-C1CD-40C1-91C3-36B40120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Switch when equipment is unavailable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7DF3B4-6F49-4EEE-8C30-EB7C183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Keep the session structured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1264B-58D6-4D3E-BD1E-FDB43E4B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5010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92C771-BCFE-4662-96DD-F5A52753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5112"/>
                </a:solidFill>
              </a:defRPr>
            </a:pPr>
            <a:r>
              <a:rPr sz="2025" b="1">
                <a:solidFill>
                  <a:srgbClr val="F45112"/>
                </a:solidFill>
              </a:rPr>
              <a:t>For trainers &amp; operators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0ADA9A4-764C-4D11-A87D-C6A55F1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Reduce repetitive basic demonstrations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5C88BC-D2E2-402D-90DA-45FA5438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Publish approved exercise content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0BBF10-1627-4871-B6A5-95626B8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Manage member-specific routines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4EBE301-D91F-4092-B4D6-94BF809B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✓  See the evidence needed to improve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6744A4-3E57-4E05-908C-D2F34D2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B665F"/>
                </a:solidFill>
              </a:defRPr>
            </a:pPr>
            <a:r>
              <a:rPr sz="1500" b="1">
                <a:solidFill>
                  <a:srgbClr val="6B665F"/>
                </a:solidFill>
              </a:rPr>
              <a:t>Gym Companion supports coach authority — it does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1413935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B152442-544D-4B14-B5F8-968D262A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WHAT EXISTS TODAY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67D889-47C2-444A-91B7-BFB7692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Four versions prove the member experience; production operations are the next milestone.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D178-801E-43BF-ABED-788DAA96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9B2EF4-00C6-4BAA-B1CE-A89360C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942EF1-EF7B-46B8-92D5-281A24C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6640F-B96B-4058-9846-4C1F61CA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A95324-E767-488B-A9A5-9F9C508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5112"/>
                </a:solidFill>
              </a:defRPr>
            </a:pPr>
            <a:r>
              <a:rPr sz="2250" b="1">
                <a:solidFill>
                  <a:srgbClr val="F45112"/>
                </a:solidFill>
              </a:rPr>
              <a:t>V1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E942E9-06FB-4C8C-AD22-EECA12B5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Visual Routine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1BC0D-E4D3-4AE2-9765-F1A1FA0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B37B22-D1E0-49F3-AAA6-8CD1B84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856A"/>
                </a:solidFill>
              </a:defRPr>
            </a:pPr>
            <a:r>
              <a:rPr sz="750" b="1">
                <a:solidFill>
                  <a:srgbClr val="5D856A"/>
                </a:solidFill>
              </a:rPr>
              <a:t>● LIVE SHOWCASE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6EB62-EAB3-406F-BA8E-13C5A9BC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81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9DABCA-C858-415A-9480-7476EC88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5112"/>
                </a:solidFill>
              </a:defRPr>
            </a:pPr>
            <a:r>
              <a:rPr sz="2250" b="1">
                <a:solidFill>
                  <a:srgbClr val="F45112"/>
                </a:solidFill>
              </a:rPr>
              <a:t>V2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37740F-F0AF-458B-A813-AF78B257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Guided Workout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CBD76-30FF-4363-8BCB-2ABD5BDD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48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AB6411-6F45-4BE3-9BA0-79DA785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814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8FC8"/>
                </a:solidFill>
              </a:defRPr>
            </a:pPr>
            <a:r>
              <a:rPr sz="750" b="1">
                <a:solidFill>
                  <a:srgbClr val="5E8FC8"/>
                </a:solidFill>
              </a:rPr>
              <a:t>◐ VALIDATING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1AE94-F1C7-4751-B5EE-C5A357B0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81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69007E4-3B2D-4342-B370-2E9E0EC8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5112"/>
                </a:solidFill>
              </a:defRPr>
            </a:pPr>
            <a:r>
              <a:rPr sz="2250" b="1">
                <a:solidFill>
                  <a:srgbClr val="F45112"/>
                </a:solidFill>
              </a:rPr>
              <a:t>V3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72F934-01D6-4C12-B05C-71DFC52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Accounts foundation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F12FB-B21B-47DE-915B-9685F792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1A5C8EE-24C7-4D88-8F3A-ACF5DC1E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6D61"/>
                </a:solidFill>
              </a:defRPr>
            </a:pPr>
            <a:r>
              <a:rPr sz="750" b="1">
                <a:solidFill>
                  <a:srgbClr val="D96D61"/>
                </a:solidFill>
              </a:rPr>
              <a:t>○ FOUNDATION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2A6AE-5136-4471-8B6A-C4BA87EC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381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AC69BBA-0EAF-4D1B-83C8-D9927D3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5112"/>
                </a:solidFill>
              </a:defRPr>
            </a:pPr>
            <a:r>
              <a:rPr sz="2250" b="1">
                <a:solidFill>
                  <a:srgbClr val="F45112"/>
                </a:solidFill>
              </a:rPr>
              <a:t>V4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039CE6B-08C4-4E45-A709-2DE3F0A6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Rich visual 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CDFE5-C023-4F03-A803-2409C5B9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BD63B04-BE17-4ADB-91FF-C2FA6E8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814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856A"/>
                </a:solidFill>
              </a:defRPr>
            </a:pPr>
            <a:r>
              <a:rPr sz="750" b="1">
                <a:solidFill>
                  <a:srgbClr val="5D856A"/>
                </a:solidFill>
              </a:rPr>
              <a:t>● LIVE SHOWCASE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A39C478-A7EE-49A7-9694-A284065C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Status discipline matters: V4 is a public showcase, V3 is a technical foundation, and V5 is the pilot-ready target.</a:t>
            </a:r>
          </a:p>
        </p:txBody>
      </p:sp>
    </p:spTree>
    <p:extLst>
      <p:ext uri="{BB962C8B-B14F-4D97-AF65-F5344CB8AC3E}">
        <p14:creationId xmlns:p14="http://schemas.microsoft.com/office/powerpoint/2010/main" val="1390002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4A3041-DC27-438A-922A-E7BF9878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WHY THIS CAN WIN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630BFF-127B-4633-B197-8954BD73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The defensible asset is a structured, gym-compatible training experience — not a list of exercises.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8A19D-3487-46E8-ABE0-30AC635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9DFE33-69E7-4FA6-8973-26253909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20D21F-BAFE-480D-B50A-5CD0F16A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7AB35-089A-4BD4-B915-0D87E511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295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786217-AC14-42FD-830E-E29F79F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Visual exercise library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02C420-1E7D-44CE-9801-48DAFF6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Members understand movements before reading long explanations.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DFEAC-DAB2-4FD0-B434-4FFC57C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295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E59A57-B1E1-4ECC-8094-35C69C6C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Equipment-aware alternatives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8CE8AF3-0D46-4994-ACF6-00E9C046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The plan stays useful when a machine is busy or unavailable.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499D6-DC94-45CF-8444-991F758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5295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467A2F-53A0-45DC-800C-D9E1CCF7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Three-phase guidance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C05A9A-3619-4EBD-B8FA-BF0599B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Setup, move, and return build confidence at each exercise.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73DFD-1BA2-4D24-B19B-6B6FE36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5295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B2199B-615B-4C38-A766-8E665C69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Coach-managed foundation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7A859F1-9C68-41B0-AC05-4BD2CCF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767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Member plans, roles, and private records support future operations.</a:t>
            </a:r>
          </a:p>
        </p:txBody>
      </p:sp>
    </p:spTree>
    <p:extLst>
      <p:ext uri="{BB962C8B-B14F-4D97-AF65-F5344CB8AC3E}">
        <p14:creationId xmlns:p14="http://schemas.microsoft.com/office/powerpoint/2010/main" val="10114141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C6BEA16-FA05-49E1-9F42-321909E1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CONTROLLED PILOT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6FB93E-EC3A-48C5-871A-DC79685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A 50-member pilot lets evidence decide.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86B7A-81FD-4361-86FF-3AE4CE4A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04016A-DA83-4815-8952-047B9CA3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2769C6-31C1-4C6F-B642-859694E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75994-EAF4-4CF8-AD43-20A8603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431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D2B449-25F5-4999-9475-5C12D934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5112"/>
                </a:solidFill>
              </a:defRPr>
            </a:pPr>
            <a:r>
              <a:rPr sz="1725" b="1">
                <a:solidFill>
                  <a:srgbClr val="F45112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F88B48-F1EE-495F-8983-980F3F43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Readiness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7D76F6-072E-4DA3-ABDF-9A6A0FB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Trainer approval, equipment check, mobile QA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AC886F-1994-46E6-BAA6-F95E575C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956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5112"/>
                </a:solidFill>
              </a:defRPr>
            </a:pPr>
            <a:r>
              <a:rPr sz="1800" b="0">
                <a:solidFill>
                  <a:srgbClr val="F4511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6EAC3-7423-434E-A691-95E1122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431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E7DE72-0F83-472F-A5D2-0588BC54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5112"/>
                </a:solidFill>
              </a:defRPr>
            </a:pPr>
            <a:r>
              <a:rPr sz="1725" b="1">
                <a:solidFill>
                  <a:srgbClr val="F45112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A5158D-A001-4FDE-BA0A-D07F5FB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86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Onboard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05DC19-FB53-4ED8-8451-AF3C117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433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Small cohorts with clear support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522794-D955-4867-91BF-950A3C4F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956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5112"/>
                </a:solidFill>
              </a:defRPr>
            </a:pPr>
            <a:r>
              <a:rPr sz="1800" b="0">
                <a:solidFill>
                  <a:srgbClr val="F4511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AC530-566E-46A2-9411-FD8AA80A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431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03C6F67-BBE1-4039-B165-2D085A2C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5112"/>
                </a:solidFill>
              </a:defRPr>
            </a:pPr>
            <a:r>
              <a:rPr sz="1725" b="1">
                <a:solidFill>
                  <a:srgbClr val="F45112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FDF51CC-FFE6-4712-911D-160CEE9E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Observe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5D66E1-77BE-4C3E-8232-12B8A24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Usage, completion, questions, reliability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BF81D17-EACA-4A21-AA96-1C3CAF68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956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5112"/>
                </a:solidFill>
              </a:defRPr>
            </a:pPr>
            <a:r>
              <a:rPr sz="1800" b="0">
                <a:solidFill>
                  <a:srgbClr val="F4511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CD9FE-1212-477F-BCE3-4ED6C64D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431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7C290BB-1A6C-48B6-B1DE-34FF4F0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5112"/>
                </a:solidFill>
              </a:defRPr>
            </a:pPr>
            <a:r>
              <a:rPr sz="1725" b="1">
                <a:solidFill>
                  <a:srgbClr val="F45112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0C0E7F1-7E28-4937-9919-C78D7B81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86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Review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D97BC2A-9DC8-43C7-AF78-6650149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433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Correct, expand, or pause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29459-C037-46D6-AF4A-BDFA058A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9239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C51DFB5-1EC8-4623-A561-7C34904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Pilot success thresholds are defined in the PRD: adoption, weekly activity, reliable page loads, trainer feedback, and no unresolved safety/privacy issue.</a:t>
            </a:r>
          </a:p>
        </p:txBody>
      </p:sp>
    </p:spTree>
    <p:extLst>
      <p:ext uri="{BB962C8B-B14F-4D97-AF65-F5344CB8AC3E}">
        <p14:creationId xmlns:p14="http://schemas.microsoft.com/office/powerpoint/2010/main" val="1695480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CCB4FE2-8E4C-48D0-B6AD-C86FB43A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COMMERCIAL HYPOTHESIS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7C767D-F906-46D0-97A5-2F88FE9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Prove operating value first; validate pricing only after the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FEF53-424F-46E6-B588-298B2D39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5EB4F3-6188-45BE-9E4F-7CD74A8E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A91F4E-A69C-4E04-9E05-6CD2CEC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86760-1D4E-4080-8DFF-F7521834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766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D0F4DC-E530-41DB-B0BD-A379DB9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5112"/>
                </a:solidFill>
              </a:defRPr>
            </a:pPr>
            <a:r>
              <a:rPr sz="1500" b="1">
                <a:solidFill>
                  <a:srgbClr val="F45112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E4A4BF-9163-4037-ADDC-EC05C43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Gym license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93B3D1-29A0-471B-83A0-FAC6AF67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Per location or member-tier access to the member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8860E-457D-4642-A9CC-A52693F0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766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FD328E-52E1-462E-B452-AF020B9B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8132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5112"/>
                </a:solidFill>
              </a:defRPr>
            </a:pPr>
            <a:r>
              <a:rPr sz="1500" b="1">
                <a:solidFill>
                  <a:srgbClr val="F45112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05C987-C377-4464-A322-8ED214F4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19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Onboarding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88250E-9766-4737-8CF9-784E666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76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Content setup, branding, trainer enablement, and pilot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43CC2-F4BE-4FFA-87D7-DBE9F3A1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766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F2504B-7F52-4B8E-BB27-A48B236F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5112"/>
                </a:solidFill>
              </a:defRPr>
            </a:pPr>
            <a:r>
              <a:rPr sz="1500" b="1">
                <a:solidFill>
                  <a:srgbClr val="F45112"/>
                </a:solidFill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8B9B9B-87E8-4F80-A20B-15AEEB3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19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Content operations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3EB1240-89FA-4226-8A4C-87018F6D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76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Approved exercise library, routine changes, and admin workflows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CFB3C4-68D6-48B2-8C7F-B79CA118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6D61"/>
                </a:solidFill>
              </a:defRPr>
            </a:pPr>
            <a:r>
              <a:rPr sz="1350" b="1">
                <a:solidFill>
                  <a:srgbClr val="D96D61"/>
                </a:solidFill>
              </a:rPr>
              <a:t>Pricing, revenue projections, and unit economics are explicitly to be validated — they are not represented as current facts.</a:t>
            </a:r>
          </a:p>
        </p:txBody>
      </p:sp>
    </p:spTree>
    <p:extLst>
      <p:ext uri="{BB962C8B-B14F-4D97-AF65-F5344CB8AC3E}">
        <p14:creationId xmlns:p14="http://schemas.microsoft.com/office/powerpoint/2010/main" val="1430337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31D6738-0E85-436B-B97F-45A71C06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EXPANSION LOGIC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433B56B-8DC2-49B2-A67E-6BB81B7A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The path to scale is evidence-led: Fitness 7 first, comparable gyms second.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8D39F-F36F-4163-AA3D-A16B8B8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C0D6B5-D2DD-4038-9380-1E836C1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1AF4C2-E0C2-4C99-AFAD-A432DD59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DE690-5717-4115-9D90-AC745276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432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108DEB-960C-4CA8-A857-AFEBC0F1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DF9"/>
                </a:solidFill>
              </a:defRPr>
            </a:pPr>
            <a:r>
              <a:rPr sz="1950" b="1">
                <a:solidFill>
                  <a:srgbClr val="FFFDF9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F77A1A-6583-43CF-9439-76410CDD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50-member pilot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5A73FC-20BA-4FFA-AB04-9FEE353A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Prove trust and operability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9A73D4-C099-4B66-A245-1E58079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665F"/>
                </a:solidFill>
              </a:defRPr>
            </a:pPr>
            <a:r>
              <a:rPr sz="180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34311-BE7A-4A68-89F8-449AB9FA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1FBA84-E126-43FC-B973-CF89291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432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DF9"/>
                </a:solidFill>
              </a:defRPr>
            </a:pPr>
            <a:r>
              <a:rPr sz="1950" b="1">
                <a:solidFill>
                  <a:srgbClr val="FFFDF9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865C43-E86D-4FD3-9106-8DD606F1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86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1,000-member rollout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59785B-A971-4AA4-8E28-8B92DE64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910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Expand in measured cohorts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D1F2BCB-BC0C-4A5B-935A-CC1C878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665F"/>
                </a:solidFill>
              </a:defRPr>
            </a:pPr>
            <a:r>
              <a:rPr sz="180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1E464-E502-4809-A347-87D3152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FC8"/>
          </a:solidFill>
          <a:ln xmlns:a="http://schemas.openxmlformats.org/drawingml/2006/main" w="0">
            <a:solidFill>
              <a:srgbClr val="5E8FC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7AF53CE-B2A1-44B4-A58B-53AF722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432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DF9"/>
                </a:solidFill>
              </a:defRPr>
            </a:pPr>
            <a:r>
              <a:rPr sz="1950" b="1">
                <a:solidFill>
                  <a:srgbClr val="FFFDF9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D580A33-3575-4D9F-BE2E-D2B647B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86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Repeatable gym playbook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F4B0266-35AC-4552-9823-457ADFCB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910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Package onboarding and support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3FC996A-7FE4-49B5-8A5D-08F3D5E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665F"/>
                </a:solidFill>
              </a:defRPr>
            </a:pPr>
            <a:r>
              <a:rPr sz="180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8DB8C-FDCC-499F-BA50-30FD3FA2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432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56A"/>
          </a:solidFill>
          <a:ln xmlns:a="http://schemas.openxmlformats.org/drawingml/2006/main" w="0">
            <a:solidFill>
              <a:srgbClr val="5D856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5B08EEA-F33D-4FA4-BC5A-09750A3E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432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DF9"/>
                </a:solidFill>
              </a:defRPr>
            </a:pPr>
            <a:r>
              <a:rPr sz="1950" b="1">
                <a:solidFill>
                  <a:srgbClr val="FFFDF9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611D336-0F89-4A02-B65E-66E95742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86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Comparable multi-location gyms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4C160C0-E0E7-439D-8BFB-32F7C753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910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65F"/>
                </a:solidFill>
              </a:defRPr>
            </a:pPr>
            <a:r>
              <a:rPr sz="1125" b="0">
                <a:solidFill>
                  <a:srgbClr val="6B665F"/>
                </a:solidFill>
              </a:rPr>
              <a:t>Validate broader demand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6678A61-DAA8-4141-90FE-D74C97F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No unverified TAM claim. The first proof is a repeatable operating model that earns the right to scale.</a:t>
            </a:r>
          </a:p>
        </p:txBody>
      </p:sp>
    </p:spTree>
    <p:extLst>
      <p:ext uri="{BB962C8B-B14F-4D97-AF65-F5344CB8AC3E}">
        <p14:creationId xmlns:p14="http://schemas.microsoft.com/office/powerpoint/2010/main" val="9705269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8A3CE5F-FB06-4433-9348-5FCEC368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ROADMAP WITH DISCIPLINE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F4E4A3-A613-46FE-9048-F066630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Each release earns the next by solving one measurable member or operating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2A186-36BD-4AFC-9992-959B34C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07E3EE-D347-4858-A444-D67FF22B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D97A2D-0C8F-4390-BA3C-2123BAC5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DDE13-C63A-4D36-9924-5F38A7E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276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0B07B0-E300-41FE-ADEB-52C9CD6E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718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5112"/>
                </a:solidFill>
              </a:defRPr>
            </a:pPr>
            <a:r>
              <a:rPr sz="2175" b="1">
                <a:solidFill>
                  <a:srgbClr val="F45112"/>
                </a:solidFill>
              </a:rPr>
              <a:t>V5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548DB7-5394-4932-935F-4EAD0E4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9567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Production personalization &amp; gym operations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E9263A-28D6-4850-A5E1-1866DE1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71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Pilot-ready data, roles, plans, memberships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A7FDB-9EDE-4BAC-A560-7D5CA51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863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B0D24E-205D-471C-A5BA-5BEF700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529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8FC8"/>
                </a:solidFill>
              </a:defRPr>
            </a:pPr>
            <a:r>
              <a:rPr sz="750" b="1">
                <a:solidFill>
                  <a:srgbClr val="5E8FC8"/>
                </a:solidFill>
              </a:rPr>
              <a:t>◐ VALIDATING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E3FC1-39AB-494C-A8CC-9E4BB6B7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3276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C70443-B7B4-4528-95E3-4AC580E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718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5112"/>
                </a:solidFill>
              </a:defRPr>
            </a:pPr>
            <a:r>
              <a:rPr sz="2175" b="1">
                <a:solidFill>
                  <a:srgbClr val="F45112"/>
                </a:solidFill>
              </a:rPr>
              <a:t>V6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AF42D7-31A8-4E90-B67D-8C8B809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9567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Anywhere training &amp; goal management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48BB4B-B510-48FB-8E95-65563634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71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Keep consistency when gym attendance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3A4BD-3190-405A-B4E6-CDAB3C6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863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5EE9FC4-10E9-4E1F-9A2F-258558A4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529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○ PLANNED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C1F98-AA41-4477-8005-9C9C0F0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276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D87EDB5-DF92-408D-A1D6-C1B499E7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718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5112"/>
                </a:solidFill>
              </a:defRPr>
            </a:pPr>
            <a:r>
              <a:rPr sz="2175" b="1">
                <a:solidFill>
                  <a:srgbClr val="F45112"/>
                </a:solidFill>
              </a:rPr>
              <a:t>V7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6412611-B716-49EC-984C-AC6F8278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Progress intelligence &amp; gamification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518C2F-00A8-4161-A9AD-6D28E9A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171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Healthy adherence, progress insight, responsible motivation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BBFF6-3EF7-466F-86C7-8AD8F45E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6863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BEF1497-6FC4-4C4E-ACF3-F03AE1F7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529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○ PLANNED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6793D9D-04C2-4EC1-B264-BC4032B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The roadmap is sequenced to avoid scope creep: trust → continuity → intelligence.</a:t>
            </a:r>
          </a:p>
        </p:txBody>
      </p:sp>
    </p:spTree>
    <p:extLst>
      <p:ext uri="{BB962C8B-B14F-4D97-AF65-F5344CB8AC3E}">
        <p14:creationId xmlns:p14="http://schemas.microsoft.com/office/powerpoint/2010/main" val="92885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E591E44-8C6A-4243-82CC-CA6C931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TECHNICAL TRUST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D60D64A-9EFA-4D5D-86FA-48CE80EA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Separate apps protect the member journey and private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A10BD-AE30-41E1-A7EB-75758A1A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4BC4FD-B6E5-4928-8D01-29237874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DDBA92-D1C6-42DC-B6DA-22A4834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FD165-C6E1-4807-B5A1-40173803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038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7FB737-9DC0-44C2-907B-AF9FC20B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856A"/>
                </a:solidFill>
              </a:defRPr>
            </a:pPr>
            <a:r>
              <a:rPr sz="1425" b="1">
                <a:solidFill>
                  <a:srgbClr val="5D856A"/>
                </a:solidFill>
              </a:rPr>
              <a:t>Member app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F67A55-0377-46AA-B4A0-97D9D89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191C"/>
                </a:solidFill>
              </a:defRPr>
            </a:pPr>
            <a:r>
              <a:rPr sz="1125" b="0">
                <a:solidFill>
                  <a:srgbClr val="17191C"/>
                </a:solidFill>
              </a:rPr>
              <a:t>Vercel</a:t>
            </a:r>
          </a:p>
          <a:p xmlns:a="http://schemas.openxmlformats.org/drawingml/2006/main">
            <a:pPr>
              <a:defRPr sz="1125" b="0">
                <a:solidFill>
                  <a:srgbClr val="17191C"/>
                </a:solidFill>
              </a:defRPr>
            </a:pPr>
            <a:r>
              <a:rPr sz="1125" b="0">
                <a:solidFill>
                  <a:srgbClr val="17191C"/>
                </a:solidFill>
              </a:rPr>
              <a:t>Member experience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DF491E-26FB-4F92-8617-C2B16F8C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43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665F"/>
                </a:solidFill>
              </a:defRPr>
            </a:pPr>
            <a:r>
              <a:rPr sz="180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CB9AE-0552-4C6F-8996-FBACEBEC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00350"/>
            <a:ext cx="2038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8D372A-C9BF-4B7E-889E-F5E3698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384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5112"/>
                </a:solidFill>
              </a:defRPr>
            </a:pPr>
            <a:r>
              <a:rPr sz="1425" b="1">
                <a:solidFill>
                  <a:srgbClr val="F45112"/>
                </a:solidFill>
              </a:rPr>
              <a:t>Coach app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8E45ED-1DBF-4B6F-8AE7-07688276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861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191C"/>
                </a:solidFill>
              </a:defRPr>
            </a:pPr>
            <a:r>
              <a:rPr sz="1125" b="0">
                <a:solidFill>
                  <a:srgbClr val="17191C"/>
                </a:solidFill>
              </a:rPr>
              <a:t>Vercel</a:t>
            </a:r>
          </a:p>
          <a:p xmlns:a="http://schemas.openxmlformats.org/drawingml/2006/main">
            <a:pPr>
              <a:defRPr sz="1125" b="0">
                <a:solidFill>
                  <a:srgbClr val="17191C"/>
                </a:solidFill>
              </a:defRPr>
            </a:pPr>
            <a:r>
              <a:rPr sz="1125" b="0">
                <a:solidFill>
                  <a:srgbClr val="17191C"/>
                </a:solidFill>
              </a:rPr>
              <a:t>Staff-only workspace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3BA12D-12EA-4930-A208-63A91E4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43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665F"/>
                </a:solidFill>
              </a:defRPr>
            </a:pPr>
            <a:r>
              <a:rPr sz="180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4AE42-94E1-487B-A8B6-31DE7F3C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038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089BA7-9DE3-4D0B-8018-B5D39AA0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384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E8FC8"/>
                </a:solidFill>
              </a:defRPr>
            </a:pPr>
            <a:r>
              <a:rPr sz="1425" b="1">
                <a:solidFill>
                  <a:srgbClr val="5E8FC8"/>
                </a:solidFill>
              </a:rPr>
              <a:t>Supabase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83AB21-8588-41AE-9203-3BA9306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191C"/>
                </a:solidFill>
              </a:defRPr>
            </a:pPr>
            <a:r>
              <a:rPr sz="1125" b="0">
                <a:solidFill>
                  <a:srgbClr val="17191C"/>
                </a:solidFill>
              </a:rPr>
              <a:t>Auth · PostgreSQL · RLS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20801F-0DC0-4F43-8007-45519853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3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665F"/>
                </a:solidFill>
              </a:defRPr>
            </a:pPr>
            <a:r>
              <a:rPr sz="1800" b="0">
                <a:solidFill>
                  <a:srgbClr val="6B665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70C20-F32E-4D78-9BFB-8E7D7C8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2038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DD7C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B7275F-F0BD-4EC2-8E55-5CA5315F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384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6D61"/>
                </a:solidFill>
              </a:defRPr>
            </a:pPr>
            <a:r>
              <a:rPr sz="1425" b="1">
                <a:solidFill>
                  <a:srgbClr val="D96D61"/>
                </a:solidFill>
              </a:rPr>
              <a:t>Approved assets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E2170B8-0F58-4CEF-B046-7605408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191C"/>
                </a:solidFill>
              </a:defRPr>
            </a:pPr>
            <a:r>
              <a:rPr sz="1125" b="0">
                <a:solidFill>
                  <a:srgbClr val="17191C"/>
                </a:solidFill>
              </a:rPr>
              <a:t>Versioned exercise visuals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9C228-9BF3-4B02-8A61-8DE08923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8686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CE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83B16A8-913B-4028-9560-151A2F3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67300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C"/>
                </a:solidFill>
              </a:defRPr>
            </a:pPr>
            <a:r>
              <a:rPr sz="1200" b="1">
                <a:solidFill>
                  <a:srgbClr val="17191C"/>
                </a:solidFill>
              </a:rPr>
              <a:t>Member data is protected through authentication and row-level security; privileged credentials stay server-side.</a:t>
            </a:r>
          </a:p>
        </p:txBody>
      </p:sp>
    </p:spTree>
    <p:extLst>
      <p:ext uri="{BB962C8B-B14F-4D97-AF65-F5344CB8AC3E}">
        <p14:creationId xmlns:p14="http://schemas.microsoft.com/office/powerpoint/2010/main" val="1338845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186BB5B-5082-4E7A-8C7B-303E6A9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PILOT PARTNERSHIP REQUEST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FF0D06-E237-4DBF-B0C9-A4B9776E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Approve a controlled pilot before a scale or capital conversation.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C35A0FB-A4BB-43D6-92BF-ADBF652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665F"/>
                </a:solidFill>
              </a:defRPr>
            </a:pPr>
            <a:r>
              <a:rPr sz="1425" b="0">
                <a:solidFill>
                  <a:srgbClr val="6B665F"/>
                </a:solidFill>
              </a:rPr>
              <a:t>This is a request for operational access, trainer review time, and an evidence review — not a request for a stated funding amount.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5075E-78AD-4847-A241-136B021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1C83B7-EF45-488E-A610-D2B2B002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CCA1F1-75CC-44E4-BCA6-94332234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695AF-6DB7-4AD9-99F8-D401B5B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2BFF8FB-C5D2-4129-B263-02B0D59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9"/>
                </a:solidFill>
              </a:defRPr>
            </a:pPr>
            <a:r>
              <a:rPr sz="1500" b="1">
                <a:solidFill>
                  <a:srgbClr val="FFFDF9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513673-2D26-4E87-B592-7AE7DC4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Approve the 50-member pilot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DBD976-6D48-41EF-B78D-5CE6685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71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Start with a defined cohort and two-location operating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B2D72-3A6D-47AC-8951-CC1792E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D53491-6EB7-411F-B475-05712D58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9"/>
                </a:solidFill>
              </a:defRPr>
            </a:pPr>
            <a:r>
              <a:rPr sz="1500" b="1">
                <a:solidFill>
                  <a:srgbClr val="FFFDF9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A7FE018-D46F-48E6-BB8C-62036F28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623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Assign trainer &amp; operations partners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4F8B55-CB8B-4A5C-B47F-A2D0C9E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243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Review routine safety, equipment fit, onboarding, and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049B5-7726-45B3-B579-981D987D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8B34002-2BC4-4514-AF75-E1DA63C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9"/>
                </a:solidFill>
              </a:defRPr>
            </a:pPr>
            <a:r>
              <a:rPr sz="1500" b="1">
                <a:solidFill>
                  <a:srgbClr val="FFFDF9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4F565E-9778-4197-9C94-587BD315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Review evidence after four weeks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620695-D3FE-4938-9714-04203391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65F"/>
                </a:solidFill>
              </a:defRPr>
            </a:pPr>
            <a:r>
              <a:rPr sz="1200" b="0">
                <a:solidFill>
                  <a:srgbClr val="6B665F"/>
                </a:solidFill>
              </a:rPr>
              <a:t>Decide to correct, expand, pause, or open a funding discussion.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4CE3D-8B97-472B-AF64-325957CF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43175"/>
            <a:ext cx="2143125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8341256-1C79-4112-8E8E-EE28774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57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5112"/>
                </a:solidFill>
              </a:defRPr>
            </a:pPr>
            <a:r>
              <a:rPr sz="1650" b="1">
                <a:solidFill>
                  <a:srgbClr val="F45112"/>
                </a:solidFill>
              </a:rPr>
              <a:t>Decision</a:t>
            </a:r>
          </a:p>
          <a:p xmlns:a="http://schemas.openxmlformats.org/drawingml/2006/main">
            <a:pPr>
              <a:defRPr sz="1650" b="1">
                <a:solidFill>
                  <a:srgbClr val="F45112"/>
                </a:solidFill>
              </a:defRPr>
            </a:pPr>
            <a:r>
              <a:rPr sz="1650" b="1">
                <a:solidFill>
                  <a:srgbClr val="F45112"/>
                </a:solidFill>
              </a:rPr>
              <a:t>needed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BC7925E-77D7-44FF-9A6D-DE294950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528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Pilot partnership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38AB8B0-B419-4590-911C-8088E5C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57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65F"/>
                </a:solidFill>
              </a:defRPr>
            </a:pPr>
            <a:r>
              <a:rPr sz="1050" b="0">
                <a:solidFill>
                  <a:srgbClr val="6B665F"/>
                </a:solidFill>
              </a:rPr>
              <a:t>Not funding amount</a:t>
            </a:r>
          </a:p>
        </p:txBody>
      </p:sp>
    </p:spTree>
    <p:extLst>
      <p:ext uri="{BB962C8B-B14F-4D97-AF65-F5344CB8AC3E}">
        <p14:creationId xmlns:p14="http://schemas.microsoft.com/office/powerpoint/2010/main" val="11258566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6602FE6-8797-4AB1-B822-FC36569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5112"/>
                </a:solidFill>
              </a:defRPr>
            </a:pPr>
            <a:r>
              <a:rPr sz="900" b="1">
                <a:solidFill>
                  <a:srgbClr val="F45112"/>
                </a:solidFill>
              </a:rPr>
              <a:t>CLOSING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0F58814-B432-4372-9C8E-4BCF21B3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191C"/>
                </a:solidFill>
              </a:defRPr>
            </a:pPr>
            <a:r>
              <a:rPr sz="2775" b="1">
                <a:solidFill>
                  <a:srgbClr val="17191C"/>
                </a:solidFill>
              </a:rPr>
              <a:t>Let’s prove that every member can start the right workout with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7063E-7424-4A2B-A8A5-4205457B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2"/>
          </a:solidFill>
          <a:ln xmlns:a="http://schemas.openxmlformats.org/drawingml/2006/main" w="0">
            <a:solidFill>
              <a:srgbClr val="F45112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7736FB-CDB9-4DEB-B3AA-03AB495E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FITNESS 7  /  GYM COMPANION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7EB7BE-B724-4D37-9B64-71936A1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579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65F"/>
                </a:solidFill>
              </a:defRPr>
            </a:pPr>
            <a:r>
              <a:rPr sz="750" b="1">
                <a:solidFill>
                  <a:srgbClr val="6B665F"/>
                </a:solidFill>
              </a:rPr>
              <a:t>PILOT PARTNERSHIP  ·  15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791E90-90D1-4DBD-9524-BEEBDA4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C"/>
                </a:solidFill>
              </a:defRPr>
            </a:pPr>
            <a:r>
              <a:rPr sz="1875" b="0">
                <a:solidFill>
                  <a:srgbClr val="17191C"/>
                </a:solidFill>
              </a:rPr>
              <a:t>The immediate goal is simple: make the gym floor easier for members, trainers, and operators — then let evidence guide the next investment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022FC-1DE3-4DC6-9419-1A955FF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619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849F02-91C7-45D8-9808-3105FDE7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7670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Sagar Paperwala  ·  Founder &amp; Product Lead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F18FB7-1EF1-4EF1-ADC0-A8BB632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45112"/>
                </a:solidFill>
              </a:defRPr>
            </a:pPr>
            <a:r>
              <a:rPr sz="1125" b="0">
                <a:solidFill>
                  <a:srgbClr val="F45112"/>
                </a:solidFill>
              </a:rPr>
              <a:t>Current V4 showcase: gym-companion-member-v4.vercel.app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E13216-CBF4-4663-B59D-D0A9D86D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665F"/>
                </a:solidFill>
              </a:defRPr>
            </a:pPr>
            <a:r>
              <a:rPr sz="975" b="0">
                <a:solidFill>
                  <a:srgbClr val="6B665F"/>
                </a:solidFill>
              </a:rPr>
              <a:t>Reference deployments: V1 · V2 · V3 member · V3 coach/admin (staff-only) · V4</a:t>
            </a:r>
          </a:p>
        </p:txBody>
      </p:sp>
    </p:spTree>
    <p:extLst>
      <p:ext uri="{BB962C8B-B14F-4D97-AF65-F5344CB8AC3E}">
        <p14:creationId xmlns:p14="http://schemas.microsoft.com/office/powerpoint/2010/main" val="567666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2026-08-11T15:06:52.6810000Z</dcterms:created>
  <dcterms:modified xsi:type="dcterms:W3CDTF">2026-08-11T15:06:52.6810000Z</dcterms:modified>
</coreProperties>
</file>